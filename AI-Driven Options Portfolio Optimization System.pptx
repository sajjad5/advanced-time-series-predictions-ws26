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fa4899ffb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fa4899ffb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fa4899ffb_0_1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fa4899ffb_0_1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fa4899ffb_0_2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fa4899ffb_0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fa4899ffb_0_2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fa4899ffb_0_2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fa4899ffb_0_2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fa4899ffb_0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fa4899ffb_0_2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fa4899ffb_0_2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fa4899ffb_0_2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fa4899ffb_0_2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fa4899ffb_0_2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fa4899ffb_0_2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fa4899ffb_0_2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fa4899ffb_0_2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fa4899ffb_0_2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fa4899ffb_0_2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fa4899ffb_0_2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fa4899ffb_0_2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fa4899ffb_0_2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fa4899ffb_0_2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fa4899ffb_0_2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fa4899ffb_0_2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fa4899ffb_0_2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fa4899ffb_0_2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fa4899ffb_0_2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fa4899ffb_0_2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fa4899ffb_0_2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fa4899ffb_0_2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fa4899ffb_0_2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fa4899ffb_0_2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fa4899ffb_0_2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fa4899ffb_0_2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fa4899ffb_0_2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fa4899ffb_0_2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fa4899ffb_0_2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fa4899ffb_0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fa4899ffb_0_2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fa4899ffb_0_2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fa4899ffb_0_2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fa4899ffb_0_2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fa4899ffb_0_2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fa4899ffb_0_2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mailto:sajjadhaider05@outlook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263450" y="1345675"/>
            <a:ext cx="6579000" cy="21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Advanced Time Series Predictions WS26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Project Title: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AI-Driven Options Portfolio Optimization System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4470650" y="3689750"/>
            <a:ext cx="32877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Sajjad Haider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Date:02.02.2026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216800"/>
            <a:ext cx="75057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1330725" y="994300"/>
            <a:ext cx="5300400" cy="34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1. </a:t>
            </a:r>
            <a:r>
              <a:rPr b="1" lang="en" sz="2400">
                <a:solidFill>
                  <a:srgbClr val="000000"/>
                </a:solidFill>
              </a:rPr>
              <a:t>Project Overview &amp; Objectives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2. </a:t>
            </a:r>
            <a:r>
              <a:rPr b="1" lang="en" sz="2400">
                <a:solidFill>
                  <a:srgbClr val="000000"/>
                </a:solidFill>
              </a:rPr>
              <a:t>Data Analysis &amp; Feature Engineering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3. </a:t>
            </a:r>
            <a:r>
              <a:rPr b="1" lang="en" sz="2400">
                <a:solidFill>
                  <a:srgbClr val="000000"/>
                </a:solidFill>
              </a:rPr>
              <a:t>Machine Learning Model Development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4. </a:t>
            </a:r>
            <a:r>
              <a:rPr b="1" lang="en" sz="2400">
                <a:solidFill>
                  <a:srgbClr val="000000"/>
                </a:solidFill>
              </a:rPr>
              <a:t>Model Performance C</a:t>
            </a:r>
            <a:r>
              <a:rPr b="1" lang="en" sz="2400">
                <a:solidFill>
                  <a:srgbClr val="000000"/>
                </a:solidFill>
              </a:rPr>
              <a:t>omparison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5. </a:t>
            </a:r>
            <a:r>
              <a:rPr b="1" lang="en" sz="2400">
                <a:solidFill>
                  <a:srgbClr val="000000"/>
                </a:solidFill>
              </a:rPr>
              <a:t>Portfolio Construction &amp; Optimization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6. Risk Analysis &amp; Management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7. Trading Strategy Recommendations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9. Key Technological Innovation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8. Conclusion &amp; Next Steps</a:t>
            </a:r>
            <a:endParaRPr b="1" sz="2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Project Overview &amp; Objectives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844800"/>
            <a:ext cx="7505700" cy="35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b="1" lang="en" sz="1400">
                <a:solidFill>
                  <a:srgbClr val="000000"/>
                </a:solidFill>
              </a:rPr>
              <a:t>Core Concept</a:t>
            </a:r>
            <a:r>
              <a:rPr lang="en" sz="1400">
                <a:solidFill>
                  <a:srgbClr val="000000"/>
                </a:solidFill>
              </a:rPr>
              <a:t>: </a:t>
            </a: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</a:rPr>
              <a:t>This project develops an advanced AI-powered system that predicts option prices and identifies optimal trading opportunities across multiple asset classes (Gold, DAX, EUR/USD) using machine learning and ensemble methods.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 </a:t>
            </a:r>
            <a:r>
              <a:rPr b="1" lang="en" sz="1400">
                <a:solidFill>
                  <a:srgbClr val="000000"/>
                </a:solidFill>
              </a:rPr>
              <a:t>Innovation: </a:t>
            </a:r>
            <a:r>
              <a:rPr lang="en" sz="1400">
                <a:solidFill>
                  <a:srgbClr val="000000"/>
                </a:solidFill>
              </a:rPr>
              <a:t>Traditional options pricing models like Black-Scholes rely on theoretical assumptions. Our system uses market data and advanced feature engineering to create more accurate, data driven predictions that adapt to current market conditions. 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</a:t>
            </a:r>
            <a:r>
              <a:rPr b="1" lang="en" sz="1400">
                <a:solidFill>
                  <a:srgbClr val="000000"/>
                </a:solidFill>
              </a:rPr>
              <a:t>Outcome: </a:t>
            </a:r>
            <a:r>
              <a:rPr lang="en" sz="1400">
                <a:solidFill>
                  <a:srgbClr val="000000"/>
                </a:solidFill>
              </a:rPr>
              <a:t>The system identifies mispriced options, recommends optimal portfolio allocations and provides risk adjusted trading strategies - giving traders a competitive edge in derivatives markets. 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Analysis &amp; Feature Engineering - Gold &amp; DAX</a:t>
            </a:r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875" y="687725"/>
            <a:ext cx="3959425" cy="143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300" y="687725"/>
            <a:ext cx="4585375" cy="21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0250" y="2985775"/>
            <a:ext cx="3866875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2260650"/>
            <a:ext cx="3914500" cy="25729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6"/>
          <p:cNvCxnSpPr/>
          <p:nvPr/>
        </p:nvCxnSpPr>
        <p:spPr>
          <a:xfrm>
            <a:off x="4179100" y="1921325"/>
            <a:ext cx="2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6"/>
          <p:cNvCxnSpPr/>
          <p:nvPr/>
        </p:nvCxnSpPr>
        <p:spPr>
          <a:xfrm rot="10800000">
            <a:off x="4321200" y="3835175"/>
            <a:ext cx="3513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Analysis &amp; Feature Engineering - EURUSD</a:t>
            </a:r>
            <a:endParaRPr/>
          </a:p>
        </p:txBody>
      </p:sp>
      <p:cxnSp>
        <p:nvCxnSpPr>
          <p:cNvPr id="158" name="Google Shape;158;p17"/>
          <p:cNvCxnSpPr/>
          <p:nvPr/>
        </p:nvCxnSpPr>
        <p:spPr>
          <a:xfrm>
            <a:off x="4029600" y="2115700"/>
            <a:ext cx="27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1700" y="840125"/>
            <a:ext cx="4353712" cy="284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400" y="1415775"/>
            <a:ext cx="368617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2.1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Series Analysis - GOLD</a:t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50" y="638275"/>
            <a:ext cx="8714225" cy="37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138" y="4412800"/>
            <a:ext cx="66770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2.1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Series Analysis - DAX</a:t>
            </a:r>
            <a:endParaRPr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50" y="630800"/>
            <a:ext cx="8676825" cy="37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150" y="4395913"/>
            <a:ext cx="66484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2.1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Series Analysis - EURUSD</a:t>
            </a: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50" y="710800"/>
            <a:ext cx="8670649" cy="36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250" y="4388775"/>
            <a:ext cx="5912505" cy="4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2.2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ARIMA GARCH Modelling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GOLD</a:t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25" y="645750"/>
            <a:ext cx="8694625" cy="21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25" y="2796025"/>
            <a:ext cx="8489875" cy="20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2.2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ARIMA GARCH Modelling - DAX</a:t>
            </a:r>
            <a:endParaRPr/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50" y="687725"/>
            <a:ext cx="8649774" cy="23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50" y="3050225"/>
            <a:ext cx="8477775" cy="18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2.2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ARIMA GARCH Modelling - EURUSD</a:t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25" y="687725"/>
            <a:ext cx="8649749" cy="255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25" y="3311875"/>
            <a:ext cx="8687151" cy="1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2.3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Advanced Feature Engineering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276600" y="919550"/>
            <a:ext cx="5853600" cy="3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Purpose: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Transforms raw options data into powerful predictive features that capture market dynamics.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Key Features Created: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Time-based Features: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Expiration timelines, seasonal patterns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Option Greeks Approximation: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Delta, Gamma estimates using Black-Scholes principles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Moneyness Metrics: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How far in/out of the money each option is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Volatility Features: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Implied volatility characteristics and smile positioning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Risk-Return Metrics: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Leverage effects, risk-adjusted return potential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Market Microstructure: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Bid-ask spreads, liquidity measures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Innovation: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Goes beyond basic options data to create sophisticated features that capture complex market relationships.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000" y="1343363"/>
            <a:ext cx="2709000" cy="245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 Learning Model Development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313975" y="844800"/>
            <a:ext cx="7805100" cy="29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Purpose: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Implements three powerful machine learning algorithms to predict option prices.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Models Used: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XGBoost: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Extreme Gradient Boosting - handles complex non-linear relationships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LightGBM: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Light Gradient Boosting - optimized for speed and efficiency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Random Forest: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 Ensemble of decision trees - robust against overfitting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Advanced Techniques:</a:t>
            </a:r>
            <a:endParaRPr b="1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Hyperparameter optimization using Optuna for peak performance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Cross-validation ensures model robustness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Ensemble methods combine strengths of all three models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SHAP analysis provides model interpretability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Performance Comparison</a:t>
            </a:r>
            <a:endParaRPr/>
          </a:p>
        </p:txBody>
      </p:sp>
      <p:pic>
        <p:nvPicPr>
          <p:cNvPr id="221" name="Google Shape;2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00" y="645725"/>
            <a:ext cx="8699225" cy="25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200" y="3180175"/>
            <a:ext cx="8736601" cy="17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4.1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Performance Comparison Ensemble </a:t>
            </a:r>
            <a:endParaRPr/>
          </a:p>
        </p:txBody>
      </p:sp>
      <p:pic>
        <p:nvPicPr>
          <p:cNvPr id="228" name="Google Shape;2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200" y="687725"/>
            <a:ext cx="8676800" cy="23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200" y="3068025"/>
            <a:ext cx="8736601" cy="19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Portfolio Construction and Optimzation</a:t>
            </a:r>
            <a:endParaRPr/>
          </a:p>
        </p:txBody>
      </p:sp>
      <p:pic>
        <p:nvPicPr>
          <p:cNvPr id="235" name="Google Shape;2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000" y="1091500"/>
            <a:ext cx="2718400" cy="352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3175" y="1101925"/>
            <a:ext cx="2718400" cy="352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3925" y="1101925"/>
            <a:ext cx="3080100" cy="352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/>
          <p:nvPr/>
        </p:nvSpPr>
        <p:spPr>
          <a:xfrm>
            <a:off x="272000" y="830125"/>
            <a:ext cx="867300" cy="271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GOLD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2990400" y="830125"/>
            <a:ext cx="867300" cy="271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DAX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5829575" y="830125"/>
            <a:ext cx="1220400" cy="271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EUR/USD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5.1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Portfolio Analysis - - -</a:t>
            </a:r>
            <a:endParaRPr/>
          </a:p>
        </p:txBody>
      </p:sp>
      <p:pic>
        <p:nvPicPr>
          <p:cNvPr id="246" name="Google Shape;2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0075" y="863050"/>
            <a:ext cx="3307625" cy="373677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 txBox="1"/>
          <p:nvPr/>
        </p:nvSpPr>
        <p:spPr>
          <a:xfrm>
            <a:off x="463525" y="863050"/>
            <a:ext cx="4642500" cy="25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Purpose: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Transforms individual predictions into comprehensive portfolio insights.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Analytical Features: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Cross-asset comparison of prediction quality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Moneyness vs. expected returns analysis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Time-to-expiry impact on prediction certainty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Asset class performance benchmarking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Visualization: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Interactive charts showing price comparisons, distribution analysis, and confidence intervals for easy interpretation.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5.1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Portfolio Analysis</a:t>
            </a:r>
            <a:endParaRPr/>
          </a:p>
        </p:txBody>
      </p:sp>
      <p:pic>
        <p:nvPicPr>
          <p:cNvPr id="253" name="Google Shape;2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00" y="687725"/>
            <a:ext cx="8732000" cy="20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00" y="2706325"/>
            <a:ext cx="8700826" cy="21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Risk Analysis</a:t>
            </a:r>
            <a:endParaRPr/>
          </a:p>
        </p:txBody>
      </p:sp>
      <p:sp>
        <p:nvSpPr>
          <p:cNvPr id="260" name="Google Shape;260;p31"/>
          <p:cNvSpPr txBox="1"/>
          <p:nvPr/>
        </p:nvSpPr>
        <p:spPr>
          <a:xfrm>
            <a:off x="314000" y="717675"/>
            <a:ext cx="51210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marR="762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Purpose: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Builds optimal portfolios considering diversification and risk constraints.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76200" marR="762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Portfolio Construction Rules: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533400" marR="76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Maximum position size limits (no more than 20% in one option)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5334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Asset class diversification (exposure across Gold, DAX, EUR/USD)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5334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Option type balance (mix of Calls and Puts)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5334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Risk-budget allocation based on confidence scores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76200" marR="762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Risk Management: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Uncertainty quantification, position sizing, and diversification ensure controlled risk exposure.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76200" marR="762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261" name="Google Shape;2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4875" y="642950"/>
            <a:ext cx="3416550" cy="39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Trading Strategy Recommendations</a:t>
            </a:r>
            <a:endParaRPr/>
          </a:p>
        </p:txBody>
      </p:sp>
      <p:sp>
        <p:nvSpPr>
          <p:cNvPr id="267" name="Google Shape;267;p32"/>
          <p:cNvSpPr txBox="1"/>
          <p:nvPr/>
        </p:nvSpPr>
        <p:spPr>
          <a:xfrm>
            <a:off x="463525" y="863050"/>
            <a:ext cx="4642500" cy="3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Purpose: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Converts predictions into executable trading strategies.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Strategy Types: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Undervalued Calls: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Identify call options predicted to increase in value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Overvalued Puts: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Spot put options likely to decrease for selling opportunities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High-Conviction Trades: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Low-uncertainty, high-return opportunities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Diversified Portfolio Construction: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Balanced exposure across assets and option types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Actionable Output: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Specific buy/sell recommendations with position sizing and risk management.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268" name="Google Shape;2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425" y="840125"/>
            <a:ext cx="324802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Technological Innovation </a:t>
            </a:r>
            <a:endParaRPr/>
          </a:p>
        </p:txBody>
      </p:sp>
      <p:sp>
        <p:nvSpPr>
          <p:cNvPr id="274" name="Google Shape;274;p33"/>
          <p:cNvSpPr txBox="1"/>
          <p:nvPr/>
        </p:nvSpPr>
        <p:spPr>
          <a:xfrm>
            <a:off x="568175" y="687725"/>
            <a:ext cx="7670400" cy="3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Machine Learning Advancements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Ensemble methods combining multiple algorithms for superior accuracy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Advanced feature engineering capturing complex options dynamics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Hyperparameter optimization for model performance maximization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SHAP interpretability for transparent AI decision-making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Financial Engineering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Real-time mispricing identification across multiple asset classes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Risk-adjusted portfolio construction methodology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Confidence-based position sizing algorithms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Cross-asset diversification strategies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Business Impact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For Traders: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Identifies profitable opportunities with quantified risk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For Portfolio Managers: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Optimizes derivatives exposure across assets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For Risk Managers: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Provides uncertainty quantification and diversification metrics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For Researchers: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Advanced methodology for options pricing beyond traditional models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819150" y="210125"/>
            <a:ext cx="75057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SzPts val="990"/>
              <a:buNone/>
            </a:pP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lang="en" sz="246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 and Next Steps </a:t>
            </a:r>
            <a:r>
              <a:rPr b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80" name="Google Shape;2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925" y="3560225"/>
            <a:ext cx="2987825" cy="11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4"/>
          <p:cNvSpPr txBox="1"/>
          <p:nvPr/>
        </p:nvSpPr>
        <p:spPr>
          <a:xfrm>
            <a:off x="415450" y="732575"/>
            <a:ext cx="7471800" cy="2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This project represents a </a:t>
            </a: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significant step forward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in the application of artificial intelligence to financial derivatives trading. 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By successfully bridging the gap between theoretical finance and practical trading, we've created a system that not only predicts options prices with remarkable accuracy but also transforms these predictions into actionable, risk-managed portfolio decisions.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The </a:t>
            </a: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true innovation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lies not just in the sophisticated machine learning models, but in the </a:t>
            </a: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comprehensive integration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of prediction, risk management, and portfolio construction into a unified framework. 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As financial markets continue to evolve and AI capabilities advance, this project establishes a </a:t>
            </a: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foundational framework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for the next generation of AI-driven investment systems. 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The methodology, insights, and infrastructure developed here pave the way for more sophisticated, adaptive, and intelligent financial decision-making systems in the future.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The era of AI-enhanced derivatives trading has arrived, and this project positions us at its forefront.</a:t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529B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287" name="Google Shape;287;p35"/>
          <p:cNvSpPr txBox="1"/>
          <p:nvPr>
            <p:ph idx="1" type="body"/>
          </p:nvPr>
        </p:nvSpPr>
        <p:spPr>
          <a:xfrm>
            <a:off x="819150" y="2997875"/>
            <a:ext cx="75057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20">
                <a:solidFill>
                  <a:srgbClr val="000000"/>
                </a:solidFill>
              </a:rPr>
              <a:t>Contact Information:</a:t>
            </a:r>
            <a:endParaRPr sz="232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34495E"/>
                </a:solidFill>
              </a:rPr>
              <a:t>Email: </a:t>
            </a:r>
            <a:r>
              <a:rPr lang="en" sz="1920" u="sng">
                <a:solidFill>
                  <a:schemeClr val="hlink"/>
                </a:solidFill>
                <a:hlinkClick r:id="rId3"/>
              </a:rPr>
              <a:t>sajjadhaider05@outlook.com</a:t>
            </a:r>
            <a:endParaRPr sz="192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34495E"/>
                </a:solidFill>
              </a:rPr>
              <a:t>GitHub: https://github.com/Sajjad5/Advanced-Time-Series-Predictions-WS26.git</a:t>
            </a:r>
            <a:endParaRPr sz="1920">
              <a:solidFill>
                <a:srgbClr val="34495E"/>
              </a:solidFill>
            </a:endParaRPr>
          </a:p>
        </p:txBody>
      </p:sp>
      <p:sp>
        <p:nvSpPr>
          <p:cNvPr id="288" name="Google Shape;288;p35"/>
          <p:cNvSpPr/>
          <p:nvPr/>
        </p:nvSpPr>
        <p:spPr>
          <a:xfrm>
            <a:off x="2033475" y="1741900"/>
            <a:ext cx="4650000" cy="133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Questions</a:t>
            </a:r>
            <a:r>
              <a:rPr b="1" lang="en" sz="2600">
                <a:latin typeface="Calibri"/>
                <a:ea typeface="Calibri"/>
                <a:cs typeface="Calibri"/>
                <a:sym typeface="Calibri"/>
              </a:rPr>
              <a:t> &amp; Discussion 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